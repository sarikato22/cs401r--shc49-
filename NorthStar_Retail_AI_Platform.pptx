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34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2355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3898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7"/>
                </a:solidFill>
              </a:rPr>
              <a:t>NorthStar Retail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245"/>
                </a:solidFill>
              </a:rPr>
              <a:t>Building the AI Platform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23774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B7A"/>
                </a:solidFill>
              </a:rPr>
              <a:t>Case Overview &amp; Strategic Initiative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" y="60624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B7A"/>
                </a:solidFill>
              </a:rPr>
              <a:t>CS 401R Reference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3504" y="2743200"/>
            <a:ext cx="36576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" y="2852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6F7A"/>
                </a:solidFill>
              </a:rPr>
              <a:t>Three connected systems, one shared platform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370332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blurRad="12700" dist="508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22960" y="3840480"/>
            <a:ext cx="2240280" cy="502920"/>
          </a:xfrm>
          <a:prstGeom prst="chevron">
            <a:avLst/>
          </a:prstGeom>
          <a:solidFill>
            <a:srgbClr val="D79B2B"/>
          </a:solidFill>
          <a:ln w="12700">
            <a:solidFill>
              <a:srgbClr val="D79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51560" y="3895344"/>
            <a:ext cx="109728" cy="109728"/>
          </a:xfrm>
          <a:prstGeom prst="ellipse">
            <a:avLst/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490472" y="3895344"/>
            <a:ext cx="109728" cy="109728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929384" y="3895344"/>
            <a:ext cx="109728" cy="109728"/>
          </a:xfrm>
          <a:prstGeom prst="ellipse">
            <a:avLst/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368296" y="3895344"/>
            <a:ext cx="109728" cy="109728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15568" y="4407408"/>
            <a:ext cx="411480" cy="457200"/>
          </a:xfrm>
          <a:prstGeom prst="rect">
            <a:avLst/>
          </a:prstGeom>
          <a:solidFill>
            <a:srgbClr val="EAF4FB"/>
          </a:solidFill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28800" y="4407408"/>
            <a:ext cx="411480" cy="457200"/>
          </a:xfrm>
          <a:prstGeom prst="rect">
            <a:avLst/>
          </a:prstGeom>
          <a:solidFill>
            <a:srgbClr val="EAF4FB"/>
          </a:solidFill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499616" y="4553712"/>
            <a:ext cx="2743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50749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6B7A"/>
                </a:solidFill>
              </a:rPr>
              <a:t>Retail footprint + data signals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98080" y="1417320"/>
            <a:ext cx="3794760" cy="3794760"/>
          </a:xfrm>
          <a:prstGeom prst="ellipse">
            <a:avLst/>
          </a:prstGeom>
          <a:solidFill>
            <a:srgbClr val="F7FBFE"/>
          </a:solidFill>
          <a:ln w="12700">
            <a:solidFill>
              <a:srgbClr val="DDE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818120" y="2697480"/>
            <a:ext cx="2331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44968" y="2350008"/>
            <a:ext cx="2487168" cy="658368"/>
          </a:xfrm>
          <a:prstGeom prst="chevron">
            <a:avLst/>
          </a:prstGeom>
          <a:solidFill>
            <a:srgbClr val="D79B2B"/>
          </a:solidFill>
          <a:ln w="12700">
            <a:solidFill>
              <a:srgbClr val="D79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891272" y="2359152"/>
            <a:ext cx="201168" cy="621792"/>
          </a:xfrm>
          <a:prstGeom prst="rect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330184" y="2359152"/>
            <a:ext cx="201168" cy="621792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769096" y="2359152"/>
            <a:ext cx="201168" cy="621792"/>
          </a:xfrm>
          <a:prstGeom prst="rect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208008" y="2359152"/>
            <a:ext cx="201168" cy="621792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646920" y="2359152"/>
            <a:ext cx="201168" cy="621792"/>
          </a:xfrm>
          <a:prstGeom prst="rect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778240" y="3081528"/>
            <a:ext cx="411480" cy="941832"/>
          </a:xfrm>
          <a:prstGeom prst="rect">
            <a:avLst/>
          </a:prstGeom>
          <a:solidFill>
            <a:srgbClr val="EAF4FB"/>
          </a:solidFill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092440" y="3017520"/>
            <a:ext cx="47548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445752" y="3017520"/>
            <a:ext cx="47548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909560" y="43434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747"/>
                </a:solidFill>
              </a:rPr>
              <a:t>NorthStar Retail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635240" y="45720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6B7A"/>
                </a:solidFill>
              </a:rPr>
              <a:t>Stores + e-commerce + data signals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949440" y="1920240"/>
            <a:ext cx="237744" cy="237744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195560" y="1920240"/>
            <a:ext cx="237744" cy="237744"/>
          </a:xfrm>
          <a:prstGeom prst="ellipse">
            <a:avLst/>
          </a:prstGeom>
          <a:solidFill>
            <a:srgbClr val="1E6F7A"/>
          </a:solidFill>
          <a:ln w="12700">
            <a:solidFill>
              <a:srgbClr val="1E6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720840" y="3794760"/>
            <a:ext cx="237744" cy="237744"/>
          </a:xfrm>
          <a:prstGeom prst="ellipse">
            <a:avLst/>
          </a:prstGeom>
          <a:solidFill>
            <a:srgbClr val="5BA7D1"/>
          </a:solidFill>
          <a:ln w="12700">
            <a:solidFill>
              <a:srgbClr val="5BA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0287000" y="3794760"/>
            <a:ext cx="237744" cy="237744"/>
          </a:xfrm>
          <a:prstGeom prst="ellipse">
            <a:avLst/>
          </a:prstGeom>
          <a:solidFill>
            <a:srgbClr val="4C8B3B"/>
          </a:solidFill>
          <a:ln w="12700">
            <a:solidFill>
              <a:srgbClr val="4C8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366760" y="1417320"/>
            <a:ext cx="237744" cy="237744"/>
          </a:xfrm>
          <a:prstGeom prst="ellipse">
            <a:avLst/>
          </a:prstGeom>
          <a:solidFill>
            <a:srgbClr val="A4473C"/>
          </a:solidFill>
          <a:ln w="12700">
            <a:solidFill>
              <a:srgbClr val="A44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052560" y="4800600"/>
            <a:ext cx="237744" cy="237744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187184" y="2039112"/>
            <a:ext cx="630936" cy="521208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195560" y="2039112"/>
            <a:ext cx="0" cy="521208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839712" y="3913632"/>
            <a:ext cx="978408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0405872" y="3913632"/>
            <a:ext cx="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485632" y="1536192"/>
            <a:ext cx="429768" cy="292608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171432" y="4919472"/>
            <a:ext cx="109728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537960" y="1783080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FCF4E6"/>
          </a:solidFill>
          <a:ln w="12700">
            <a:solidFill>
              <a:srgbClr val="FCF4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574536" y="1828800"/>
            <a:ext cx="886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2747"/>
                </a:solidFill>
              </a:rPr>
              <a:t>Data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0058400" y="1783080"/>
            <a:ext cx="1005840" cy="256032"/>
          </a:xfrm>
          <a:prstGeom prst="roundRect">
            <a:avLst>
              <a:gd name="adj" fmla="val 28571"/>
            </a:avLst>
          </a:prstGeom>
          <a:solidFill>
            <a:srgbClr val="E7F5F3"/>
          </a:solidFill>
          <a:ln w="12700">
            <a:solidFill>
              <a:srgbClr val="E7F5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0094976" y="1828800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2747"/>
                </a:solidFill>
              </a:rPr>
              <a:t>AI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400800" y="3794760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EAF4FB"/>
          </a:solidFill>
          <a:ln w="12700">
            <a:solidFill>
              <a:srgbClr val="EAF4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437376" y="3840480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2747"/>
                </a:solidFill>
              </a:rPr>
              <a:t>Signals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0149840" y="3794760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EDF5E8"/>
          </a:solidFill>
          <a:ln w="12700">
            <a:solidFill>
              <a:srgbClr val="EDF5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186416" y="3840480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2747"/>
                </a:solidFill>
              </a:rPr>
              <a:t>Actions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21792" y="3246120"/>
            <a:ext cx="914400" cy="256032"/>
          </a:xfrm>
          <a:prstGeom prst="roundRect">
            <a:avLst>
              <a:gd name="adj" fmla="val 28571"/>
            </a:avLst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58368" y="3291840"/>
            <a:ext cx="841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Retention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609344" y="3246120"/>
            <a:ext cx="877824" cy="256032"/>
          </a:xfrm>
          <a:prstGeom prst="roundRect">
            <a:avLst>
              <a:gd name="adj" fmla="val 28571"/>
            </a:avLst>
          </a:prstGeom>
          <a:solidFill>
            <a:srgbClr val="1E6F7A"/>
          </a:solidFill>
          <a:ln w="12700">
            <a:solidFill>
              <a:srgbClr val="1E6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645920" y="3291840"/>
            <a:ext cx="804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Margin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578608" y="3246120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615184" y="329184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2747"/>
                </a:solidFill>
              </a:rPr>
              <a:t>Service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65760" y="66385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B7A"/>
                </a:solidFill>
              </a:rPr>
              <a:t>NorthStar Retail AI Platform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1521440" y="662025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B7A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54864"/>
          </a:xfrm>
          <a:prstGeom prst="rect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Summary: The $140M Opportunity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B7A"/>
                </a:solidFill>
              </a:rPr>
              <a:t>Addressing customer churn through intelligent automation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60704"/>
            <a:ext cx="1106424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CECEC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6184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4473C"/>
                </a:solidFill>
              </a:rPr>
              <a:t>NorthStar loses about 18% of active customers annually to inactivity, creating a roughly $140M revenue opportunity and about $340 in lifetime value lost per churned customer.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65176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AFCFE"/>
          </a:solidFill>
          <a:ln w="12700">
            <a:solidFill>
              <a:srgbClr val="D7E0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4360" y="2651760"/>
            <a:ext cx="73152" cy="1234440"/>
          </a:xfrm>
          <a:prstGeom prst="rect">
            <a:avLst/>
          </a:prstGeom>
          <a:solidFill>
            <a:srgbClr val="A4473C"/>
          </a:solidFill>
          <a:ln w="12700">
            <a:solidFill>
              <a:srgbClr val="A4473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58952" y="2761488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33245"/>
                </a:solidFill>
              </a:rPr>
              <a:t>Annual churn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58952" y="2999232"/>
            <a:ext cx="2423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A4473C"/>
                </a:solidFill>
              </a:rPr>
              <a:t>18%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58952" y="363016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6B7A"/>
                </a:solidFill>
              </a:rPr>
              <a:t>Current baseline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0" y="265176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AFCFE"/>
          </a:solidFill>
          <a:ln w="12700">
            <a:solidFill>
              <a:srgbClr val="D7E0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74720" y="2651760"/>
            <a:ext cx="73152" cy="1234440"/>
          </a:xfrm>
          <a:prstGeom prst="rect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39312" y="2761488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33245"/>
                </a:solidFill>
              </a:rPr>
              <a:t>Annual impact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39312" y="2999232"/>
            <a:ext cx="2423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D79B2B"/>
                </a:solidFill>
              </a:rPr>
              <a:t>$140M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639312" y="363016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6B7A"/>
                </a:solidFill>
              </a:rPr>
              <a:t>Opportunity size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355080" y="265176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AFCFE"/>
          </a:solidFill>
          <a:ln w="12700">
            <a:solidFill>
              <a:srgbClr val="D7E0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55080" y="2651760"/>
            <a:ext cx="73152" cy="1234440"/>
          </a:xfrm>
          <a:prstGeom prst="rect">
            <a:avLst/>
          </a:prstGeom>
          <a:solidFill>
            <a:srgbClr val="1E6F7A"/>
          </a:solidFill>
          <a:ln w="12700">
            <a:solidFill>
              <a:srgbClr val="1E6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9672" y="2761488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33245"/>
                </a:solidFill>
              </a:rPr>
              <a:t>Lifetime value lost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19672" y="2999232"/>
            <a:ext cx="2423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6F7A"/>
                </a:solidFill>
              </a:rPr>
              <a:t>$340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19672" y="363016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6B7A"/>
                </a:solidFill>
              </a:rPr>
              <a:t>Per churned customer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235440" y="265176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AFCFE"/>
          </a:solidFill>
          <a:ln w="12700">
            <a:solidFill>
              <a:srgbClr val="D7E0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235440" y="2651760"/>
            <a:ext cx="73152" cy="1234440"/>
          </a:xfrm>
          <a:prstGeom prst="rect">
            <a:avLst/>
          </a:prstGeom>
          <a:solidFill>
            <a:srgbClr val="4C8B3B"/>
          </a:solidFill>
          <a:ln w="12700">
            <a:solidFill>
              <a:srgbClr val="4C8B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400032" y="2761488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33245"/>
                </a:solidFill>
              </a:rPr>
              <a:t>Target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400032" y="2999232"/>
            <a:ext cx="20574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C8B3B"/>
                </a:solidFill>
              </a:rPr>
              <a:t>14%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400032" y="363016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6B7A"/>
                </a:solidFill>
              </a:rPr>
              <a:t>12-month goal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0080" y="4206240"/>
            <a:ext cx="10972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50392" y="4407408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23544" y="4471416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AI Initiative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14400" y="4855464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42416" y="4773168"/>
            <a:ext cx="100218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33245"/>
                </a:solidFill>
              </a:rPr>
              <a:t>Churn prediction identifies at-risk customers before they go inactive.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914400" y="5138928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42416" y="5056632"/>
            <a:ext cx="100218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33245"/>
                </a:solidFill>
              </a:rPr>
              <a:t>Generative offers replace generic discounts with personalized retention actions.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914400" y="5422392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42416" y="5340096"/>
            <a:ext cx="100218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33245"/>
                </a:solidFill>
              </a:rPr>
              <a:t>Customer service agent automates routine contacts and routes complex cases to people.</a:t>
            </a:r>
            <a:endParaRPr lang="en-US" sz="1120" dirty="0"/>
          </a:p>
        </p:txBody>
      </p:sp>
      <p:sp>
        <p:nvSpPr>
          <p:cNvPr id="39" name="Text 37"/>
          <p:cNvSpPr/>
          <p:nvPr/>
        </p:nvSpPr>
        <p:spPr>
          <a:xfrm>
            <a:off x="365760" y="66385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B7A"/>
                </a:solidFill>
              </a:rPr>
              <a:t>NorthStar Retail AI Platform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521440" y="662025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B7A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54864"/>
          </a:xfrm>
          <a:prstGeom prst="rect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NorthStar Retail: Company Profile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B7A"/>
                </a:solidFill>
              </a:rPr>
              <a:t>Specialty retailer of outdoor gear, apparel, and home goods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60704"/>
            <a:ext cx="1106424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AFCFE"/>
          </a:solidFill>
          <a:ln w="12700">
            <a:solidFill>
              <a:srgbClr val="D7E0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73152" cy="100584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" y="152704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33245"/>
                </a:solidFill>
              </a:rPr>
              <a:t>Founded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58952" y="176479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2747"/>
                </a:solidFill>
              </a:rPr>
              <a:t>1987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58952" y="21671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6B7A"/>
                </a:solidFill>
              </a:rPr>
              <a:t>Established brand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29000" y="14173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AFCFE"/>
          </a:solidFill>
          <a:ln w="12700">
            <a:solidFill>
              <a:srgbClr val="D7E0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29000" y="1417320"/>
            <a:ext cx="73152" cy="1005840"/>
          </a:xfrm>
          <a:prstGeom prst="rect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93592" y="152704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33245"/>
                </a:solidFill>
              </a:rPr>
              <a:t>Annual revenue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93592" y="176479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D79B2B"/>
                </a:solidFill>
              </a:rPr>
              <a:t>$3.2B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593592" y="21671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6B7A"/>
                </a:solidFill>
              </a:rPr>
              <a:t>Approximate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63640" y="14173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AFCFE"/>
          </a:solidFill>
          <a:ln w="12700">
            <a:solidFill>
              <a:srgbClr val="D7E0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63640" y="1417320"/>
            <a:ext cx="73152" cy="1005840"/>
          </a:xfrm>
          <a:prstGeom prst="rect">
            <a:avLst/>
          </a:prstGeom>
          <a:solidFill>
            <a:srgbClr val="1E6F7A"/>
          </a:solidFill>
          <a:ln w="12700">
            <a:solidFill>
              <a:srgbClr val="1E6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28232" y="152704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33245"/>
                </a:solidFill>
              </a:rPr>
              <a:t>Active customers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28232" y="176479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6F7A"/>
                </a:solidFill>
              </a:rPr>
              <a:t>2.1M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28232" y="21671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6B7A"/>
                </a:solidFill>
              </a:rPr>
              <a:t>Last 12 months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098280" y="141732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AFCFE"/>
          </a:solidFill>
          <a:ln w="12700">
            <a:solidFill>
              <a:srgbClr val="D7E0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098280" y="1417320"/>
            <a:ext cx="73152" cy="1005840"/>
          </a:xfrm>
          <a:prstGeom prst="rect">
            <a:avLst/>
          </a:prstGeom>
          <a:solidFill>
            <a:srgbClr val="4C8B3B"/>
          </a:solidFill>
          <a:ln w="12700">
            <a:solidFill>
              <a:srgbClr val="4C8B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262872" y="152704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33245"/>
                </a:solidFill>
              </a:rPr>
              <a:t>Loyalty members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262872" y="176479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C8B3B"/>
                </a:solidFill>
              </a:rPr>
              <a:t>1.4M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262872" y="21671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6B7A"/>
                </a:solidFill>
              </a:rPr>
              <a:t>Growing base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4360" y="274320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22960" y="29260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1E6F7A"/>
          </a:solidFill>
          <a:ln w="12700">
            <a:solidFill>
              <a:srgbClr val="1E6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96112" y="2990088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Footprint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1248" y="3364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3245"/>
                </a:solidFill>
              </a:rPr>
              <a:t>400 stores across North America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59536" y="367588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B7A"/>
                </a:solidFill>
              </a:rPr>
              <a:t>United States, Canada, and Mexico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11880" y="3246120"/>
            <a:ext cx="1737360" cy="1143000"/>
          </a:xfrm>
          <a:prstGeom prst="arc">
            <a:avLst/>
          </a:prstGeom>
          <a:solidFill>
            <a:srgbClr val="FFFFFF"/>
          </a:solidFill>
          <a:ln w="12700">
            <a:solidFill>
              <a:srgbClr val="5BA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931920" y="3456432"/>
            <a:ext cx="164592" cy="16459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434840" y="3749040"/>
            <a:ext cx="164592" cy="164592"/>
          </a:xfrm>
          <a:prstGeom prst="ellipse">
            <a:avLst/>
          </a:prstGeom>
          <a:solidFill>
            <a:srgbClr val="1E6F7A"/>
          </a:solidFill>
          <a:ln w="12700">
            <a:solidFill>
              <a:srgbClr val="1E6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46320" y="4087368"/>
            <a:ext cx="164592" cy="164592"/>
          </a:xfrm>
          <a:prstGeom prst="ellipse">
            <a:avLst/>
          </a:prstGeom>
          <a:solidFill>
            <a:srgbClr val="4C8B3B"/>
          </a:solidFill>
          <a:ln w="12700">
            <a:solidFill>
              <a:srgbClr val="4C8B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913632" y="453542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6B7A"/>
                </a:solidFill>
              </a:rPr>
              <a:t>North America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17920" y="2743200"/>
            <a:ext cx="537667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446520" y="292608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519672" y="2990088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747"/>
                </a:solidFill>
              </a:rPr>
              <a:t>Operating Model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46520" y="3447288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74536" y="3364992"/>
            <a:ext cx="47183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33245"/>
                </a:solidFill>
              </a:rPr>
              <a:t>E-commerce share is about 28% and growing.</a:t>
            </a:r>
            <a:endParaRPr lang="en-US" sz="1130" dirty="0"/>
          </a:p>
        </p:txBody>
      </p:sp>
      <p:sp>
        <p:nvSpPr>
          <p:cNvPr id="43" name="Shape 41"/>
          <p:cNvSpPr/>
          <p:nvPr/>
        </p:nvSpPr>
        <p:spPr>
          <a:xfrm>
            <a:off x="6446520" y="3730752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574536" y="3648456"/>
            <a:ext cx="47183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33245"/>
                </a:solidFill>
              </a:rPr>
              <a:t>Average order value is $87 in-store versus $112 online.</a:t>
            </a:r>
            <a:endParaRPr lang="en-US" sz="1130" dirty="0"/>
          </a:p>
        </p:txBody>
      </p:sp>
      <p:sp>
        <p:nvSpPr>
          <p:cNvPr id="45" name="Shape 43"/>
          <p:cNvSpPr/>
          <p:nvPr/>
        </p:nvSpPr>
        <p:spPr>
          <a:xfrm>
            <a:off x="6446520" y="4014216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574536" y="3931920"/>
            <a:ext cx="47183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33245"/>
                </a:solidFill>
              </a:rPr>
              <a:t>The business serves outdoor gear, apparel, and home goods customers.</a:t>
            </a:r>
            <a:endParaRPr lang="en-US" sz="1130" dirty="0"/>
          </a:p>
        </p:txBody>
      </p:sp>
      <p:sp>
        <p:nvSpPr>
          <p:cNvPr id="47" name="Text 45"/>
          <p:cNvSpPr/>
          <p:nvPr/>
        </p:nvSpPr>
        <p:spPr>
          <a:xfrm>
            <a:off x="365760" y="66385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B7A"/>
                </a:solidFill>
              </a:rPr>
              <a:t>NorthStar Retail AI Platform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1521440" y="662025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B7A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54864"/>
          </a:xfrm>
          <a:prstGeom prst="rect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Three-Pillar AI Strategy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B7A"/>
                </a:solidFill>
              </a:rPr>
              <a:t>A holistic approach to customer retention and operational efficiency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60704"/>
            <a:ext cx="1106424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2834640" cy="452628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481328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A4473C"/>
          </a:solidFill>
          <a:ln w="12700">
            <a:solidFill>
              <a:srgbClr val="A44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8096" y="16642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</a:rPr>
              <a:t>1. Churn Prediction Model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1709928" y="2331720"/>
            <a:ext cx="694944" cy="694944"/>
          </a:xfrm>
          <a:prstGeom prst="ellipse">
            <a:avLst/>
          </a:prstGeom>
          <a:solidFill>
            <a:srgbClr val="FCECEC"/>
          </a:solidFill>
          <a:ln w="12700">
            <a:solidFill>
              <a:srgbClr val="A44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709928" y="245973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4473C"/>
                </a:solidFill>
              </a:rPr>
              <a:t>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3328416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0976" y="3246120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33245"/>
                </a:solidFill>
              </a:rPr>
              <a:t>Identify customers at risk before they leave.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22960" y="3611880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50976" y="3529584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33245"/>
                </a:solidFill>
              </a:rPr>
              <a:t>Weekly ML scoring of all active customers.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22960" y="3895344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50976" y="3813048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33245"/>
                </a:solidFill>
              </a:rPr>
              <a:t>Target the top 10% highest-risk customers.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041648" y="1481328"/>
            <a:ext cx="2834640" cy="452628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041648" y="1481328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D79B2B"/>
          </a:solidFill>
          <a:ln w="12700">
            <a:solidFill>
              <a:srgbClr val="D79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69664" y="16642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</a:rPr>
              <a:t>2. Generative Offer System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5111496" y="2331720"/>
            <a:ext cx="694944" cy="694944"/>
          </a:xfrm>
          <a:prstGeom prst="ellipse">
            <a:avLst/>
          </a:prstGeom>
          <a:solidFill>
            <a:srgbClr val="FCF4E6"/>
          </a:solidFill>
          <a:ln w="12700">
            <a:solidFill>
              <a:srgbClr val="D79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11496" y="245973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79B2B"/>
                </a:solidFill>
              </a:rPr>
              <a:t>2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224528" y="3328416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52544" y="3246120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33245"/>
                </a:solidFill>
              </a:rPr>
              <a:t>Replace one-size-fits-all discounts with personalized offers.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224528" y="3611880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352544" y="3529584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33245"/>
                </a:solidFill>
              </a:rPr>
              <a:t>Use RAG to combine history, loyalty tier, and affinity.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4224528" y="3895344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52544" y="3813048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33245"/>
                </a:solidFill>
              </a:rPr>
              <a:t>Protect margin while improving redemption.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7443216" y="1481328"/>
            <a:ext cx="2834640" cy="452628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443216" y="1481328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1E6F7A"/>
          </a:solidFill>
          <a:ln w="12700">
            <a:solidFill>
              <a:srgbClr val="1E6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571232" y="16642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</a:rPr>
              <a:t>3. Customer Service Agent</a:t>
            </a:r>
            <a:endParaRPr lang="en-US" sz="1130" dirty="0"/>
          </a:p>
        </p:txBody>
      </p:sp>
      <p:sp>
        <p:nvSpPr>
          <p:cNvPr id="33" name="Shape 31"/>
          <p:cNvSpPr/>
          <p:nvPr/>
        </p:nvSpPr>
        <p:spPr>
          <a:xfrm>
            <a:off x="8513064" y="2331720"/>
            <a:ext cx="694944" cy="694944"/>
          </a:xfrm>
          <a:prstGeom prst="ellipse">
            <a:avLst/>
          </a:prstGeom>
          <a:solidFill>
            <a:srgbClr val="E7F5F3"/>
          </a:solidFill>
          <a:ln w="12700">
            <a:solidFill>
              <a:srgbClr val="1E6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513064" y="245973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6F7A"/>
                </a:solidFill>
              </a:rPr>
              <a:t>3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626096" y="3328416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754112" y="3246120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33245"/>
                </a:solidFill>
              </a:rPr>
              <a:t>Automate routine inquiries and reduce human workload.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7626096" y="3611880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754112" y="3529584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33245"/>
                </a:solidFill>
              </a:rPr>
              <a:t>Handle order status, returns, and loyalty questions.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7626096" y="3895344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754112" y="3813048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233245"/>
                </a:solidFill>
              </a:rPr>
              <a:t>Escalate complex cases to human agents.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2971800" y="6263640"/>
            <a:ext cx="6263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747"/>
                </a:solidFill>
              </a:rPr>
              <a:t>One data foundation, three distinct AI workflows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66385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B7A"/>
                </a:solidFill>
              </a:rPr>
              <a:t>NorthStar Retail AI Platform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521440" y="662025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B7A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54864"/>
          </a:xfrm>
          <a:prstGeom prst="rect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1: Churn Prediction Model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B7A"/>
                </a:solidFill>
              </a:rPr>
              <a:t>Batch machine learning to identify at-risk customers early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60704"/>
            <a:ext cx="1106424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2834640" cy="44805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1627632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A4473C"/>
          </a:solidFill>
          <a:ln w="12700">
            <a:solidFill>
              <a:srgbClr val="A4473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1832" y="1691640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50392" y="2139696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78408" y="2057400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233245"/>
                </a:solidFill>
              </a:rPr>
              <a:t>At-risk customers are identified only after they become inactive.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50392" y="2423160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78408" y="2340864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233245"/>
                </a:solidFill>
              </a:rPr>
              <a:t>No proactive prioritization for retention outreach.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868680" y="3337560"/>
            <a:ext cx="1389888" cy="310896"/>
          </a:xfrm>
          <a:prstGeom prst="roundRect">
            <a:avLst>
              <a:gd name="adj" fmla="val 23529"/>
            </a:avLst>
          </a:prstGeom>
          <a:solidFill>
            <a:srgbClr val="1E6F7A"/>
          </a:solidFill>
          <a:ln w="12700">
            <a:solidFill>
              <a:srgbClr val="1E6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1832" y="340156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50392" y="3849624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78408" y="3767328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233245"/>
                </a:solidFill>
              </a:rPr>
              <a:t>Weekly scoring of every active customer.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850392" y="4133088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78408" y="4050792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233245"/>
                </a:solidFill>
              </a:rPr>
              <a:t>Predict 30-day churn probability with a batch ML model.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3703320" y="1417320"/>
            <a:ext cx="46634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931920" y="162763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05072" y="1691640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747"/>
                </a:solidFill>
              </a:rPr>
              <a:t>Mechanics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950208" y="2194560"/>
            <a:ext cx="841248" cy="914400"/>
          </a:xfrm>
          <a:prstGeom prst="roundRect">
            <a:avLst>
              <a:gd name="adj" fmla="val 8696"/>
            </a:avLst>
          </a:prstGeom>
          <a:solidFill>
            <a:srgbClr val="EAF4FB"/>
          </a:solidFill>
          <a:ln w="12700">
            <a:solidFill>
              <a:srgbClr val="5BA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995928" y="240487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33245"/>
                </a:solidFill>
              </a:rPr>
              <a:t>Active customers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91456" y="2651760"/>
            <a:ext cx="210312" cy="0"/>
          </a:xfrm>
          <a:prstGeom prst="line">
            <a:avLst/>
          </a:prstGeom>
          <a:noFill/>
          <a:ln w="12700">
            <a:solidFill>
              <a:srgbClr val="5D6B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102352" y="2194560"/>
            <a:ext cx="841248" cy="914400"/>
          </a:xfrm>
          <a:prstGeom prst="roundRect">
            <a:avLst>
              <a:gd name="adj" fmla="val 8696"/>
            </a:avLst>
          </a:prstGeom>
          <a:solidFill>
            <a:srgbClr val="E7F5F3"/>
          </a:solidFill>
          <a:ln w="12700">
            <a:solidFill>
              <a:srgbClr val="1E6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48072" y="240487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33245"/>
                </a:solidFill>
              </a:rPr>
              <a:t>Feature store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0" y="2651760"/>
            <a:ext cx="210312" cy="0"/>
          </a:xfrm>
          <a:prstGeom prst="line">
            <a:avLst/>
          </a:prstGeom>
          <a:noFill/>
          <a:ln w="12700">
            <a:solidFill>
              <a:srgbClr val="5D6B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54496" y="2194560"/>
            <a:ext cx="841248" cy="914400"/>
          </a:xfrm>
          <a:prstGeom prst="roundRect">
            <a:avLst>
              <a:gd name="adj" fmla="val 8696"/>
            </a:avLst>
          </a:prstGeom>
          <a:solidFill>
            <a:srgbClr val="FCF4E6"/>
          </a:solidFill>
          <a:ln w="12700">
            <a:solidFill>
              <a:srgbClr val="D79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00216" y="240487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33245"/>
                </a:solidFill>
              </a:rPr>
              <a:t>Batch score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95744" y="2651760"/>
            <a:ext cx="210312" cy="0"/>
          </a:xfrm>
          <a:prstGeom prst="line">
            <a:avLst/>
          </a:prstGeom>
          <a:noFill/>
          <a:ln w="12700">
            <a:solidFill>
              <a:srgbClr val="5D6B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406640" y="2194560"/>
            <a:ext cx="841248" cy="914400"/>
          </a:xfrm>
          <a:prstGeom prst="roundRect">
            <a:avLst>
              <a:gd name="adj" fmla="val 8696"/>
            </a:avLst>
          </a:prstGeom>
          <a:solidFill>
            <a:srgbClr val="EDF5E8"/>
          </a:solidFill>
          <a:ln w="12700">
            <a:solidFill>
              <a:srgbClr val="4C8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452360" y="240487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33245"/>
                </a:solidFill>
              </a:rPr>
              <a:t>Retention list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977640" y="352044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60520" y="37947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10" b="1" dirty="0">
                <a:solidFill>
                  <a:srgbClr val="233245"/>
                </a:solidFill>
              </a:rPr>
              <a:t>Business goal: target the top 10% highest-risk customers with proactive retention offers.</a:t>
            </a:r>
            <a:endParaRPr lang="en-US" sz="1110" dirty="0"/>
          </a:p>
        </p:txBody>
      </p:sp>
      <p:sp>
        <p:nvSpPr>
          <p:cNvPr id="37" name="Shape 35"/>
          <p:cNvSpPr/>
          <p:nvPr/>
        </p:nvSpPr>
        <p:spPr>
          <a:xfrm>
            <a:off x="8595360" y="141732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AFCFE"/>
          </a:solidFill>
          <a:ln w="12700">
            <a:solidFill>
              <a:srgbClr val="D7E0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595360" y="1417320"/>
            <a:ext cx="73152" cy="1005840"/>
          </a:xfrm>
          <a:prstGeom prst="rect">
            <a:avLst/>
          </a:prstGeom>
          <a:solidFill>
            <a:srgbClr val="4C8B3B"/>
          </a:solidFill>
          <a:ln w="12700">
            <a:solidFill>
              <a:srgbClr val="4C8B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759952" y="1527048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33245"/>
                </a:solidFill>
              </a:rPr>
              <a:t>Success metric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759952" y="176479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C8B3B"/>
                </a:solidFill>
              </a:rPr>
              <a:t>18% → 14%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8759952" y="216712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6B7A"/>
                </a:solidFill>
              </a:rPr>
              <a:t>12-month churn reduction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595360" y="2651760"/>
            <a:ext cx="2926080" cy="3246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851392" y="285292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4C8B3B"/>
          </a:solidFill>
          <a:ln w="12700">
            <a:solidFill>
              <a:srgbClr val="4C8B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924544" y="2916936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Measurement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851392" y="3328416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979408" y="3246120"/>
            <a:ext cx="2203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233245"/>
                </a:solidFill>
              </a:rPr>
              <a:t>Weekly model score refresh.</a:t>
            </a:r>
            <a:endParaRPr lang="en-US" sz="1040" dirty="0"/>
          </a:p>
        </p:txBody>
      </p:sp>
      <p:sp>
        <p:nvSpPr>
          <p:cNvPr id="47" name="Shape 45"/>
          <p:cNvSpPr/>
          <p:nvPr/>
        </p:nvSpPr>
        <p:spPr>
          <a:xfrm>
            <a:off x="8851392" y="3611880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979408" y="3529584"/>
            <a:ext cx="2203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233245"/>
                </a:solidFill>
              </a:rPr>
              <a:t>Customer-level risk ranking.</a:t>
            </a:r>
            <a:endParaRPr lang="en-US" sz="1040" dirty="0"/>
          </a:p>
        </p:txBody>
      </p:sp>
      <p:sp>
        <p:nvSpPr>
          <p:cNvPr id="49" name="Shape 47"/>
          <p:cNvSpPr/>
          <p:nvPr/>
        </p:nvSpPr>
        <p:spPr>
          <a:xfrm>
            <a:off x="8851392" y="3895344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979408" y="3813048"/>
            <a:ext cx="2203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233245"/>
                </a:solidFill>
              </a:rPr>
              <a:t>Downstream offer targeting quality.</a:t>
            </a:r>
            <a:endParaRPr lang="en-US" sz="1040" dirty="0"/>
          </a:p>
        </p:txBody>
      </p:sp>
      <p:sp>
        <p:nvSpPr>
          <p:cNvPr id="51" name="Shape 49"/>
          <p:cNvSpPr/>
          <p:nvPr/>
        </p:nvSpPr>
        <p:spPr>
          <a:xfrm>
            <a:off x="8851392" y="4178808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979408" y="4096512"/>
            <a:ext cx="2203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233245"/>
                </a:solidFill>
              </a:rPr>
              <a:t>Economic lift by cohort.</a:t>
            </a:r>
            <a:endParaRPr lang="en-US" sz="1040" dirty="0"/>
          </a:p>
        </p:txBody>
      </p:sp>
      <p:sp>
        <p:nvSpPr>
          <p:cNvPr id="53" name="Text 51"/>
          <p:cNvSpPr/>
          <p:nvPr/>
        </p:nvSpPr>
        <p:spPr>
          <a:xfrm>
            <a:off x="365760" y="66385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B7A"/>
                </a:solidFill>
              </a:rPr>
              <a:t>NorthStar Retail AI Platform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1521440" y="662025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B7A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54864"/>
          </a:xfrm>
          <a:prstGeom prst="rect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2: Offer Generation (LLM / RAG)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B7A"/>
                </a:solidFill>
              </a:rPr>
              <a:t>Personalized retention offers instead of generic flat discounts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60704"/>
            <a:ext cx="1106424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3063240" cy="452628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1627632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A4473C"/>
          </a:solidFill>
          <a:ln w="12700">
            <a:solidFill>
              <a:srgbClr val="A4473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1832" y="1691640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50392" y="2121408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78408" y="2039112"/>
            <a:ext cx="24323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233245"/>
                </a:solidFill>
              </a:rPr>
              <a:t>Generic 20% discounts drive low redemption.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50392" y="2404872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78408" y="2322576"/>
            <a:ext cx="24323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233245"/>
                </a:solidFill>
              </a:rPr>
              <a:t>Flat offers erode margin even when unnecessary.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868680" y="3246120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1E6F7A"/>
          </a:solidFill>
          <a:ln w="12700">
            <a:solidFill>
              <a:srgbClr val="1E6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1832" y="3310128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50392" y="3739896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78408" y="3657600"/>
            <a:ext cx="24323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233245"/>
                </a:solidFill>
              </a:rPr>
              <a:t>RAG combines purchase history, loyalty tier, and product affinity.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850392" y="4023360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78408" y="3941064"/>
            <a:ext cx="24323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233245"/>
                </a:solidFill>
              </a:rPr>
              <a:t>Each offer is tailored to the customer context.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3886200" y="1417320"/>
            <a:ext cx="49834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0" y="162763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87952" y="169164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747"/>
                </a:solidFill>
              </a:rPr>
              <a:t>Offer Flow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0" y="2194560"/>
            <a:ext cx="868680" cy="914400"/>
          </a:xfrm>
          <a:prstGeom prst="roundRect">
            <a:avLst>
              <a:gd name="adj" fmla="val 8421"/>
            </a:avLst>
          </a:prstGeom>
          <a:solidFill>
            <a:srgbClr val="EAF4FB"/>
          </a:solidFill>
          <a:ln w="12700">
            <a:solidFill>
              <a:srgbClr val="5BA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60520" y="23774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33245"/>
                </a:solidFill>
              </a:rPr>
              <a:t>Customer history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983480" y="2651760"/>
            <a:ext cx="192024" cy="0"/>
          </a:xfrm>
          <a:prstGeom prst="line">
            <a:avLst/>
          </a:prstGeom>
          <a:noFill/>
          <a:ln w="12700">
            <a:solidFill>
              <a:srgbClr val="5D6B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257800" y="2194560"/>
            <a:ext cx="868680" cy="914400"/>
          </a:xfrm>
          <a:prstGeom prst="roundRect">
            <a:avLst>
              <a:gd name="adj" fmla="val 8421"/>
            </a:avLst>
          </a:prstGeom>
          <a:solidFill>
            <a:srgbClr val="E7F5F3"/>
          </a:solidFill>
          <a:ln w="12700">
            <a:solidFill>
              <a:srgbClr val="1E6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03520" y="23774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33245"/>
                </a:solidFill>
              </a:rPr>
              <a:t>Loyalty tier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126480" y="2651760"/>
            <a:ext cx="192024" cy="0"/>
          </a:xfrm>
          <a:prstGeom prst="line">
            <a:avLst/>
          </a:prstGeom>
          <a:noFill/>
          <a:ln w="12700">
            <a:solidFill>
              <a:srgbClr val="5D6B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00800" y="2194560"/>
            <a:ext cx="868680" cy="914400"/>
          </a:xfrm>
          <a:prstGeom prst="roundRect">
            <a:avLst>
              <a:gd name="adj" fmla="val 8421"/>
            </a:avLst>
          </a:prstGeom>
          <a:solidFill>
            <a:srgbClr val="FCF4E6"/>
          </a:solidFill>
          <a:ln w="12700">
            <a:solidFill>
              <a:srgbClr val="D79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46520" y="23774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33245"/>
                </a:solidFill>
              </a:rPr>
              <a:t>Affinity signals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7269480" y="2651760"/>
            <a:ext cx="192024" cy="0"/>
          </a:xfrm>
          <a:prstGeom prst="line">
            <a:avLst/>
          </a:prstGeom>
          <a:noFill/>
          <a:ln w="12700">
            <a:solidFill>
              <a:srgbClr val="5D6B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543800" y="2194560"/>
            <a:ext cx="868680" cy="914400"/>
          </a:xfrm>
          <a:prstGeom prst="roundRect">
            <a:avLst>
              <a:gd name="adj" fmla="val 8421"/>
            </a:avLst>
          </a:prstGeom>
          <a:solidFill>
            <a:srgbClr val="EDF5E8"/>
          </a:solidFill>
          <a:ln w="12700">
            <a:solidFill>
              <a:srgbClr val="4C8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589520" y="23774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33245"/>
                </a:solidFill>
              </a:rPr>
              <a:t>Generated offer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160520" y="3547872"/>
            <a:ext cx="4389120" cy="941832"/>
          </a:xfrm>
          <a:prstGeom prst="roundRect">
            <a:avLst>
              <a:gd name="adj" fmla="val 7767"/>
            </a:avLst>
          </a:prstGeom>
          <a:solidFill>
            <a:srgbClr val="F4F7FA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315968" y="3803904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3245"/>
                </a:solidFill>
              </a:rPr>
              <a:t>Business goals: increase redemption from 6% to 12% and avoid deep discounts for high-LTV customers.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098280" y="141732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AFCFE"/>
          </a:solidFill>
          <a:ln w="12700">
            <a:solidFill>
              <a:srgbClr val="D7E0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098280" y="1417320"/>
            <a:ext cx="73152" cy="1005840"/>
          </a:xfrm>
          <a:prstGeom prst="rect">
            <a:avLst/>
          </a:prstGeom>
          <a:solidFill>
            <a:srgbClr val="1E6F7A"/>
          </a:solidFill>
          <a:ln w="12700">
            <a:solidFill>
              <a:srgbClr val="1E6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262872" y="152704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33245"/>
                </a:solidFill>
              </a:rPr>
              <a:t>Redemption target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262872" y="176479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6F7A"/>
                </a:solidFill>
              </a:rPr>
              <a:t>12%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9262872" y="21671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6B7A"/>
                </a:solidFill>
              </a:rPr>
              <a:t>Up from 6%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098280" y="2651760"/>
            <a:ext cx="2468880" cy="32461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308592" y="2852928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A4473C"/>
          </a:solidFill>
          <a:ln w="12700">
            <a:solidFill>
              <a:srgbClr val="A4473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381744" y="2916936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Guardrail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308592" y="3328416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436608" y="3246120"/>
            <a:ext cx="1792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33245"/>
                </a:solidFill>
              </a:rPr>
              <a:t>Respect customer value.</a:t>
            </a:r>
            <a:endParaRPr lang="en-US" sz="1010" dirty="0"/>
          </a:p>
        </p:txBody>
      </p:sp>
      <p:sp>
        <p:nvSpPr>
          <p:cNvPr id="47" name="Shape 45"/>
          <p:cNvSpPr/>
          <p:nvPr/>
        </p:nvSpPr>
        <p:spPr>
          <a:xfrm>
            <a:off x="9308592" y="3611880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436608" y="3529584"/>
            <a:ext cx="1792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33245"/>
                </a:solidFill>
              </a:rPr>
              <a:t>Preserve gross margin.</a:t>
            </a:r>
            <a:endParaRPr lang="en-US" sz="1010" dirty="0"/>
          </a:p>
        </p:txBody>
      </p:sp>
      <p:sp>
        <p:nvSpPr>
          <p:cNvPr id="49" name="Shape 47"/>
          <p:cNvSpPr/>
          <p:nvPr/>
        </p:nvSpPr>
        <p:spPr>
          <a:xfrm>
            <a:off x="9308592" y="3895344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436608" y="3813048"/>
            <a:ext cx="1792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33245"/>
                </a:solidFill>
              </a:rPr>
              <a:t>Avoid unnecessary discounting.</a:t>
            </a:r>
            <a:endParaRPr lang="en-US" sz="1010" dirty="0"/>
          </a:p>
        </p:txBody>
      </p:sp>
      <p:sp>
        <p:nvSpPr>
          <p:cNvPr id="51" name="Text 49"/>
          <p:cNvSpPr/>
          <p:nvPr/>
        </p:nvSpPr>
        <p:spPr>
          <a:xfrm>
            <a:off x="365760" y="66385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B7A"/>
                </a:solidFill>
              </a:rPr>
              <a:t>NorthStar Retail AI Platform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1521440" y="662025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B7A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54864"/>
          </a:xfrm>
          <a:prstGeom prst="rect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3: Autonomous Customer Service Agent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B7A"/>
                </a:solidFill>
              </a:rPr>
              <a:t>Agentic AI for routine customer contacts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60704"/>
            <a:ext cx="1106424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2971800" cy="452628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1627632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A4473C"/>
          </a:solidFill>
          <a:ln w="12700">
            <a:solidFill>
              <a:srgbClr val="A4473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1832" y="1691640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50392" y="2121408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78408" y="2039112"/>
            <a:ext cx="24323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233245"/>
                </a:solidFill>
              </a:rPr>
              <a:t>14k contacts per day create pressure on the contact center.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50392" y="2404872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78408" y="2322576"/>
            <a:ext cx="24323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233245"/>
                </a:solidFill>
              </a:rPr>
              <a:t>62% of contacts are routine inquiries.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868680" y="3246120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1E6F7A"/>
          </a:solidFill>
          <a:ln w="12700">
            <a:solidFill>
              <a:srgbClr val="1E6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1832" y="3310128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50392" y="3739896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78408" y="3657600"/>
            <a:ext cx="24323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233245"/>
                </a:solidFill>
              </a:rPr>
              <a:t>Autonomous handling for routine cases.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850392" y="4023360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78408" y="3941064"/>
            <a:ext cx="24323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233245"/>
                </a:solidFill>
              </a:rPr>
              <a:t>Seamless escalation to human agents for complex issues.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3767328" y="141732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995928" y="1627632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69080" y="1691640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747"/>
                </a:solidFill>
              </a:rPr>
              <a:t>Contact Flow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069080" y="2194560"/>
            <a:ext cx="1170432" cy="941832"/>
          </a:xfrm>
          <a:prstGeom prst="roundRect">
            <a:avLst>
              <a:gd name="adj" fmla="val 7767"/>
            </a:avLst>
          </a:prstGeom>
          <a:solidFill>
            <a:srgbClr val="EAF4FB"/>
          </a:solidFill>
          <a:ln w="12700">
            <a:solidFill>
              <a:srgbClr val="5BA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42232" y="239572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33245"/>
                </a:solidFill>
              </a:rPr>
              <a:t>Customer asks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5239512" y="2660904"/>
            <a:ext cx="228600" cy="0"/>
          </a:xfrm>
          <a:prstGeom prst="line">
            <a:avLst/>
          </a:prstGeom>
          <a:noFill/>
          <a:ln w="12700">
            <a:solidFill>
              <a:srgbClr val="5D6B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541264" y="2194560"/>
            <a:ext cx="1170432" cy="941832"/>
          </a:xfrm>
          <a:prstGeom prst="roundRect">
            <a:avLst>
              <a:gd name="adj" fmla="val 7767"/>
            </a:avLst>
          </a:prstGeom>
          <a:solidFill>
            <a:srgbClr val="EDF5E8"/>
          </a:solidFill>
          <a:ln w="12700">
            <a:solidFill>
              <a:srgbClr val="4C8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14416" y="239572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33245"/>
                </a:solidFill>
              </a:rPr>
              <a:t>Agent resolves routine request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6711696" y="2660904"/>
            <a:ext cx="228600" cy="0"/>
          </a:xfrm>
          <a:prstGeom prst="line">
            <a:avLst/>
          </a:prstGeom>
          <a:noFill/>
          <a:ln w="12700">
            <a:solidFill>
              <a:srgbClr val="5D6B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013448" y="2194560"/>
            <a:ext cx="1170432" cy="941832"/>
          </a:xfrm>
          <a:prstGeom prst="roundRect">
            <a:avLst>
              <a:gd name="adj" fmla="val 7767"/>
            </a:avLst>
          </a:prstGeom>
          <a:solidFill>
            <a:srgbClr val="FCF4E6"/>
          </a:solidFill>
          <a:ln w="12700">
            <a:solidFill>
              <a:srgbClr val="D79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086600" y="239572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33245"/>
                </a:solidFill>
              </a:rPr>
              <a:t>Escalate complex case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8183880" y="2660904"/>
            <a:ext cx="228600" cy="0"/>
          </a:xfrm>
          <a:prstGeom prst="line">
            <a:avLst/>
          </a:prstGeom>
          <a:noFill/>
          <a:ln w="12700">
            <a:solidFill>
              <a:srgbClr val="5D6B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485632" y="2194560"/>
            <a:ext cx="1170432" cy="941832"/>
          </a:xfrm>
          <a:prstGeom prst="roundRect">
            <a:avLst>
              <a:gd name="adj" fmla="val 7767"/>
            </a:avLst>
          </a:prstGeom>
          <a:solidFill>
            <a:srgbClr val="E7F5F3"/>
          </a:solidFill>
          <a:ln w="12700">
            <a:solidFill>
              <a:srgbClr val="1E6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558784" y="239572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33245"/>
                </a:solidFill>
              </a:rPr>
              <a:t>Human agent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4069080" y="356616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270248" y="381304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33245"/>
                </a:solidFill>
              </a:rPr>
              <a:t>Business goals: automate 50% of routine contacts and reduce average handle time for escalated cases by 30%.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9372600" y="141732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AFCFE"/>
          </a:solidFill>
          <a:ln w="12700">
            <a:solidFill>
              <a:srgbClr val="D7E0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372600" y="1417320"/>
            <a:ext cx="73152" cy="1005840"/>
          </a:xfrm>
          <a:prstGeom prst="rect">
            <a:avLst/>
          </a:prstGeom>
          <a:solidFill>
            <a:srgbClr val="1E6F7A"/>
          </a:solidFill>
          <a:ln w="12700">
            <a:solidFill>
              <a:srgbClr val="1E6F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537192" y="1527048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33245"/>
                </a:solidFill>
              </a:rPr>
              <a:t>Availability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537192" y="1764792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6F7A"/>
                </a:solidFill>
              </a:rPr>
              <a:t>99.5%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9537192" y="216712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6B7A"/>
                </a:solidFill>
              </a:rPr>
              <a:t>Core hours only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372600" y="2651760"/>
            <a:ext cx="2148840" cy="32461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582912" y="2852928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4C8B3B"/>
          </a:solidFill>
          <a:ln w="12700">
            <a:solidFill>
              <a:srgbClr val="4C8B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656064" y="2916936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Metrics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582912" y="3328416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710928" y="3246120"/>
            <a:ext cx="1563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33245"/>
                </a:solidFill>
              </a:rPr>
              <a:t>Automation rate.</a:t>
            </a:r>
            <a:endParaRPr lang="en-US" sz="1010" dirty="0"/>
          </a:p>
        </p:txBody>
      </p:sp>
      <p:sp>
        <p:nvSpPr>
          <p:cNvPr id="47" name="Shape 45"/>
          <p:cNvSpPr/>
          <p:nvPr/>
        </p:nvSpPr>
        <p:spPr>
          <a:xfrm>
            <a:off x="9582912" y="3611880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710928" y="3529584"/>
            <a:ext cx="1563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33245"/>
                </a:solidFill>
              </a:rPr>
              <a:t>CSAT for AI contacts.</a:t>
            </a:r>
            <a:endParaRPr lang="en-US" sz="1010" dirty="0"/>
          </a:p>
        </p:txBody>
      </p:sp>
      <p:sp>
        <p:nvSpPr>
          <p:cNvPr id="49" name="Shape 47"/>
          <p:cNvSpPr/>
          <p:nvPr/>
        </p:nvSpPr>
        <p:spPr>
          <a:xfrm>
            <a:off x="9582912" y="3895344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710928" y="3813048"/>
            <a:ext cx="1563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33245"/>
                </a:solidFill>
              </a:rPr>
              <a:t>Human escalation rate.</a:t>
            </a:r>
            <a:endParaRPr lang="en-US" sz="1010" dirty="0"/>
          </a:p>
        </p:txBody>
      </p:sp>
      <p:sp>
        <p:nvSpPr>
          <p:cNvPr id="51" name="Text 49"/>
          <p:cNvSpPr/>
          <p:nvPr/>
        </p:nvSpPr>
        <p:spPr>
          <a:xfrm>
            <a:off x="365760" y="66385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B7A"/>
                </a:solidFill>
              </a:rPr>
              <a:t>NorthStar Retail AI Platform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1521440" y="662025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B7A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54864"/>
          </a:xfrm>
          <a:prstGeom prst="rect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Architecture (Current State - Pre-AI)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B7A"/>
                </a:solidFill>
              </a:rPr>
              <a:t>Nightly ETL feeds to Snowflake Data Warehouse with approved AI inputs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60704"/>
            <a:ext cx="1106424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11064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04672" y="161848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77824" y="1682496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Approved Sources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2743200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E7F5F3"/>
          </a:solidFill>
          <a:ln w="12700">
            <a:solidFill>
              <a:srgbClr val="1E6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29992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747"/>
                </a:solidFill>
              </a:rPr>
              <a:t>Snowflake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2747"/>
                </a:solidFill>
              </a:rPr>
              <a:t>Data Warehouse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192024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EAF4FB"/>
          </a:solidFill>
          <a:ln w="12700">
            <a:solidFill>
              <a:srgbClr val="5BA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6112" y="2011680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233245"/>
                </a:solidFill>
              </a:rPr>
              <a:t>Transactional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914400" y="2231136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33245"/>
                </a:solidFill>
              </a:rPr>
              <a:t>POS (stores, nightly batch)</a:t>
            </a:r>
            <a:endParaRPr lang="en-US" sz="830" dirty="0"/>
          </a:p>
          <a:p>
            <a:pPr marL="0" indent="0" algn="l">
              <a:buNone/>
            </a:pPr>
            <a:r>
              <a:rPr lang="en-US" sz="830" dirty="0">
                <a:solidFill>
                  <a:srgbClr val="233245"/>
                </a:solidFill>
              </a:rPr>
              <a:t>E-commerce (Shopify, real-time)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2514600" y="2633472"/>
            <a:ext cx="2194560" cy="612648"/>
          </a:xfrm>
          <a:prstGeom prst="line">
            <a:avLst/>
          </a:prstGeom>
          <a:noFill/>
          <a:ln w="12700">
            <a:solidFill>
              <a:srgbClr val="5BA7D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88920" y="192024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E7F5F3"/>
          </a:solidFill>
          <a:ln w="12700">
            <a:solidFill>
              <a:srgbClr val="1E6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862072" y="2011680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233245"/>
                </a:solidFill>
              </a:rPr>
              <a:t>Customer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2880360" y="2231136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33245"/>
                </a:solidFill>
              </a:rPr>
              <a:t>CRM (Salesforce, near real-time)</a:t>
            </a:r>
            <a:endParaRPr lang="en-US" sz="830" dirty="0"/>
          </a:p>
          <a:p>
            <a:pPr marL="0" indent="0" algn="l">
              <a:buNone/>
            </a:pPr>
            <a:r>
              <a:rPr lang="en-US" sz="830" dirty="0">
                <a:solidFill>
                  <a:srgbClr val="233245"/>
                </a:solidFill>
              </a:rPr>
              <a:t>Loyalty Platform (4-hour batch sync)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4480560" y="2633472"/>
            <a:ext cx="228600" cy="612648"/>
          </a:xfrm>
          <a:prstGeom prst="line">
            <a:avLst/>
          </a:prstGeom>
          <a:noFill/>
          <a:ln w="12700">
            <a:solidFill>
              <a:srgbClr val="1E6F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35240" y="192024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CF4E6"/>
          </a:solidFill>
          <a:ln w="12700">
            <a:solidFill>
              <a:srgbClr val="D79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08392" y="2011680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233245"/>
                </a:solidFill>
              </a:rPr>
              <a:t>Behavioral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7726680" y="2231136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33245"/>
                </a:solidFill>
              </a:rPr>
              <a:t>Web/App Clickstream (Segment via Kinesis)</a:t>
            </a:r>
            <a:endParaRPr lang="en-US" sz="830" dirty="0"/>
          </a:p>
          <a:p>
            <a:pPr marL="0" indent="0" algn="l">
              <a:buNone/>
            </a:pPr>
            <a:r>
              <a:rPr lang="en-US" sz="830" dirty="0">
                <a:solidFill>
                  <a:srgbClr val="233245"/>
                </a:solidFill>
              </a:rPr>
              <a:t>Streaming ~90k events/hour peak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9326880" y="2633472"/>
            <a:ext cx="0" cy="612648"/>
          </a:xfrm>
          <a:prstGeom prst="line">
            <a:avLst/>
          </a:prstGeom>
          <a:noFill/>
          <a:ln w="12700">
            <a:solidFill>
              <a:srgbClr val="D79B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601200" y="192024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EDF5E8"/>
          </a:solidFill>
          <a:ln w="12700">
            <a:solidFill>
              <a:srgbClr val="4C8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74352" y="2011680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233245"/>
                </a:solidFill>
              </a:rPr>
              <a:t>Product / Ops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9692640" y="2231136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233245"/>
                </a:solidFill>
              </a:rPr>
              <a:t>PIM (12k SKUs, daily update)</a:t>
            </a:r>
            <a:endParaRPr lang="en-US" sz="830" dirty="0"/>
          </a:p>
          <a:p>
            <a:pPr marL="0" indent="0" algn="l">
              <a:buNone/>
            </a:pPr>
            <a:r>
              <a:rPr lang="en-US" sz="830" dirty="0">
                <a:solidFill>
                  <a:srgbClr val="233245"/>
                </a:solidFill>
              </a:rPr>
              <a:t>Customer Reviews (2.3M historical ratings)</a:t>
            </a:r>
            <a:endParaRPr lang="en-US" sz="830" dirty="0"/>
          </a:p>
          <a:p>
            <a:pPr marL="0" indent="0" algn="l">
              <a:buNone/>
            </a:pPr>
            <a:r>
              <a:rPr lang="en-US" sz="830" dirty="0">
                <a:solidFill>
                  <a:srgbClr val="233245"/>
                </a:solidFill>
              </a:rPr>
              <a:t>Store Ops System (promotions, hours; quality varies)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11292840" y="2633472"/>
            <a:ext cx="0" cy="612648"/>
          </a:xfrm>
          <a:prstGeom prst="line">
            <a:avLst/>
          </a:prstGeom>
          <a:noFill/>
          <a:ln w="12700">
            <a:solidFill>
              <a:srgbClr val="4C8B3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" y="4892040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5D6B7A"/>
                </a:solidFill>
              </a:rPr>
              <a:t>Data arrives in multiple cadences: batch, streaming, near real-time, and event-driven.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365760" y="66385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B7A"/>
                </a:solidFill>
              </a:rPr>
              <a:t>NorthStar Retail AI Platform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521440" y="662025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B7A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54864"/>
          </a:xfrm>
          <a:prstGeom prst="rect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Mission: Building the AWS AI Platform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B7A"/>
                </a:solidFill>
              </a:rPr>
              <a:t>Construct the infrastructure that does not yet exist at NorthStar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60704"/>
            <a:ext cx="1106424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10972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1627632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1832" y="1691640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Platform Responsibilities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2331720"/>
            <a:ext cx="1353312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5BA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254203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5BA7D1"/>
                </a:solidFill>
              </a:rPr>
              <a:t>1. Ingest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969264" y="27432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233245"/>
                </a:solidFill>
              </a:rPr>
              <a:t>Batch, streaming, event-driven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2267712" y="2788920"/>
            <a:ext cx="164592" cy="0"/>
          </a:xfrm>
          <a:prstGeom prst="line">
            <a:avLst/>
          </a:prstGeom>
          <a:noFill/>
          <a:ln w="12700">
            <a:solidFill>
              <a:srgbClr val="5D6B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23744" y="2331720"/>
            <a:ext cx="135331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6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69464" y="254203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E6F7A"/>
                </a:solidFill>
              </a:rPr>
              <a:t>2. Store &amp; transform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2578608" y="27432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233245"/>
                </a:solidFill>
              </a:rPr>
              <a:t>ML-ready features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3877056" y="2788920"/>
            <a:ext cx="164592" cy="0"/>
          </a:xfrm>
          <a:prstGeom prst="line">
            <a:avLst/>
          </a:prstGeom>
          <a:noFill/>
          <a:ln w="12700">
            <a:solidFill>
              <a:srgbClr val="5D6B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33088" y="2331720"/>
            <a:ext cx="1353312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79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78808" y="254203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D79B2B"/>
                </a:solidFill>
              </a:rPr>
              <a:t>3. Train &amp; evaluate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4187952" y="27432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233245"/>
                </a:solidFill>
              </a:rPr>
              <a:t>ML, LLM/RAG, agentic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5486400" y="2788920"/>
            <a:ext cx="164592" cy="0"/>
          </a:xfrm>
          <a:prstGeom prst="line">
            <a:avLst/>
          </a:prstGeom>
          <a:noFill/>
          <a:ln w="12700">
            <a:solidFill>
              <a:srgbClr val="5D6B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742432" y="23317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C8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88152" y="25420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4C8B3B"/>
                </a:solidFill>
              </a:rPr>
              <a:t>4. Automate lifecycle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5797296" y="2743200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233245"/>
                </a:solidFill>
              </a:rPr>
              <a:t>Code commit to production</a:t>
            </a:r>
            <a:endParaRPr lang="en-US" sz="770" dirty="0"/>
          </a:p>
        </p:txBody>
      </p:sp>
      <p:sp>
        <p:nvSpPr>
          <p:cNvPr id="26" name="Shape 24"/>
          <p:cNvSpPr/>
          <p:nvPr/>
        </p:nvSpPr>
        <p:spPr>
          <a:xfrm>
            <a:off x="7479792" y="2788920"/>
            <a:ext cx="164592" cy="0"/>
          </a:xfrm>
          <a:prstGeom prst="line">
            <a:avLst/>
          </a:prstGeom>
          <a:noFill/>
          <a:ln w="12700">
            <a:solidFill>
              <a:srgbClr val="5D6B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735824" y="2331720"/>
            <a:ext cx="1353312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A44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81544" y="254203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A4473C"/>
                </a:solidFill>
              </a:rPr>
              <a:t>5. Serve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7790688" y="27432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233245"/>
                </a:solidFill>
              </a:rPr>
              <a:t>Predictions within latency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9089136" y="2788920"/>
            <a:ext cx="164592" cy="0"/>
          </a:xfrm>
          <a:prstGeom prst="line">
            <a:avLst/>
          </a:prstGeom>
          <a:noFill/>
          <a:ln w="12700">
            <a:solidFill>
              <a:srgbClr val="5D6B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345168" y="2331720"/>
            <a:ext cx="135331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BA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390888" y="254203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5BA7D1"/>
                </a:solidFill>
              </a:rPr>
              <a:t>6. Monitor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9400032" y="27432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233245"/>
                </a:solidFill>
              </a:rPr>
              <a:t>Drift, degradation, impact</a:t>
            </a:r>
            <a:endParaRPr lang="en-US" sz="770" dirty="0"/>
          </a:p>
        </p:txBody>
      </p:sp>
      <p:sp>
        <p:nvSpPr>
          <p:cNvPr id="34" name="Shape 32"/>
          <p:cNvSpPr/>
          <p:nvPr/>
        </p:nvSpPr>
        <p:spPr>
          <a:xfrm>
            <a:off x="10698480" y="2788920"/>
            <a:ext cx="164592" cy="0"/>
          </a:xfrm>
          <a:prstGeom prst="line">
            <a:avLst/>
          </a:prstGeom>
          <a:noFill/>
          <a:ln w="12700">
            <a:solidFill>
              <a:srgbClr val="5D6B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954512" y="2331720"/>
            <a:ext cx="1353312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1E6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1000232" y="254203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E6F7A"/>
                </a:solidFill>
              </a:rPr>
              <a:t>7. Measure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11009376" y="274320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233245"/>
                </a:solidFill>
              </a:rPr>
              <a:t>Economic and business value</a:t>
            </a:r>
            <a:endParaRPr lang="en-US" sz="770" dirty="0"/>
          </a:p>
        </p:txBody>
      </p:sp>
      <p:sp>
        <p:nvSpPr>
          <p:cNvPr id="38" name="Shape 36"/>
          <p:cNvSpPr/>
          <p:nvPr/>
        </p:nvSpPr>
        <p:spPr>
          <a:xfrm>
            <a:off x="914400" y="3886200"/>
            <a:ext cx="10149840" cy="1325880"/>
          </a:xfrm>
          <a:prstGeom prst="roundRect">
            <a:avLst>
              <a:gd name="adj" fmla="val 5517"/>
            </a:avLst>
          </a:prstGeom>
          <a:solidFill>
            <a:srgbClr val="F4F7FA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143000" y="426110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F2747"/>
                </a:solidFill>
              </a:rPr>
              <a:t>Core outcome: a production-grade AI foundation that can support three distinct use cases while remaining observable, governable, and economically measurable.</a:t>
            </a:r>
            <a:endParaRPr lang="en-US" sz="1220" dirty="0"/>
          </a:p>
        </p:txBody>
      </p:sp>
      <p:sp>
        <p:nvSpPr>
          <p:cNvPr id="40" name="Text 38"/>
          <p:cNvSpPr/>
          <p:nvPr/>
        </p:nvSpPr>
        <p:spPr>
          <a:xfrm>
            <a:off x="365760" y="66385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B7A"/>
                </a:solidFill>
              </a:rPr>
              <a:t>NorthStar Retail AI Platform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521440" y="662025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B7A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54864"/>
          </a:xfrm>
          <a:prstGeom prst="rect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Constraints &amp; Requirements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B7A"/>
                </a:solidFill>
              </a:rPr>
              <a:t>Guardrails that shape architecture, controls, and service design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60704"/>
            <a:ext cx="1106424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2880360" cy="452628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508760"/>
            <a:ext cx="2880360" cy="640080"/>
          </a:xfrm>
          <a:prstGeom prst="roundRect">
            <a:avLst>
              <a:gd name="adj" fmla="val 11429"/>
            </a:avLst>
          </a:prstGeom>
          <a:solidFill>
            <a:srgbClr val="A4473C"/>
          </a:solidFill>
          <a:ln w="12700">
            <a:solidFill>
              <a:srgbClr val="A44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" y="1709928"/>
            <a:ext cx="2734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Regulatory &amp; compliance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" y="2331720"/>
            <a:ext cx="2551176" cy="3383280"/>
          </a:xfrm>
          <a:prstGeom prst="roundRect">
            <a:avLst>
              <a:gd name="adj" fmla="val 2867"/>
            </a:avLst>
          </a:prstGeom>
          <a:solidFill>
            <a:srgbClr val="FCECEC"/>
          </a:solidFill>
          <a:ln w="12700">
            <a:solidFill>
              <a:srgbClr val="A44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0120" y="2679192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88136" y="2596896"/>
            <a:ext cx="2112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33245"/>
                </a:solidFill>
              </a:rPr>
              <a:t>PII subject to GDPR (Canada), CCPA (California), and 24-month retention policies.</a:t>
            </a:r>
            <a:endParaRPr lang="en-US" sz="1010" dirty="0"/>
          </a:p>
        </p:txBody>
      </p:sp>
      <p:sp>
        <p:nvSpPr>
          <p:cNvPr id="14" name="Shape 12"/>
          <p:cNvSpPr/>
          <p:nvPr/>
        </p:nvSpPr>
        <p:spPr>
          <a:xfrm>
            <a:off x="960120" y="2962656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88136" y="2880360"/>
            <a:ext cx="2112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33245"/>
                </a:solidFill>
              </a:rPr>
              <a:t>Credit-offer component must follow FCRA / ECOA non-discrimination requirements.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4050792" y="1508760"/>
            <a:ext cx="2880360" cy="452628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050792" y="1508760"/>
            <a:ext cx="2880360" cy="640080"/>
          </a:xfrm>
          <a:prstGeom prst="roundRect">
            <a:avLst>
              <a:gd name="adj" fmla="val 11429"/>
            </a:avLst>
          </a:prstGeom>
          <a:solidFill>
            <a:srgbClr val="5BA7D1"/>
          </a:solidFill>
          <a:ln w="12700">
            <a:solidFill>
              <a:srgbClr val="5BA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23944" y="1709928"/>
            <a:ext cx="2734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Service level agreements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15384" y="2331720"/>
            <a:ext cx="2551176" cy="3383280"/>
          </a:xfrm>
          <a:prstGeom prst="roundRect">
            <a:avLst>
              <a:gd name="adj" fmla="val 2867"/>
            </a:avLst>
          </a:prstGeom>
          <a:solidFill>
            <a:srgbClr val="EAF4FB"/>
          </a:solidFill>
          <a:ln w="12700">
            <a:solidFill>
              <a:srgbClr val="5BA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70832" y="2679192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98848" y="2596896"/>
            <a:ext cx="2112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33245"/>
                </a:solidFill>
              </a:rPr>
              <a:t>Churn model: weekly scores by Monday 6 AM ET.</a:t>
            </a:r>
            <a:endParaRPr lang="en-US" sz="1010" dirty="0"/>
          </a:p>
        </p:txBody>
      </p:sp>
      <p:sp>
        <p:nvSpPr>
          <p:cNvPr id="22" name="Shape 20"/>
          <p:cNvSpPr/>
          <p:nvPr/>
        </p:nvSpPr>
        <p:spPr>
          <a:xfrm>
            <a:off x="4370832" y="2962656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98848" y="2880360"/>
            <a:ext cx="2112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33245"/>
                </a:solidFill>
              </a:rPr>
              <a:t>Offer generation: respond within 2 seconds for real-time display.</a:t>
            </a:r>
            <a:endParaRPr lang="en-US" sz="1010" dirty="0"/>
          </a:p>
        </p:txBody>
      </p:sp>
      <p:sp>
        <p:nvSpPr>
          <p:cNvPr id="24" name="Shape 22"/>
          <p:cNvSpPr/>
          <p:nvPr/>
        </p:nvSpPr>
        <p:spPr>
          <a:xfrm>
            <a:off x="4370832" y="3246120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98848" y="3163824"/>
            <a:ext cx="2112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33245"/>
                </a:solidFill>
              </a:rPr>
              <a:t>CS agent: 99.5% availability during core business hours.</a:t>
            </a:r>
            <a:endParaRPr lang="en-US" sz="1010" dirty="0"/>
          </a:p>
        </p:txBody>
      </p:sp>
      <p:sp>
        <p:nvSpPr>
          <p:cNvPr id="26" name="Shape 24"/>
          <p:cNvSpPr/>
          <p:nvPr/>
        </p:nvSpPr>
        <p:spPr>
          <a:xfrm>
            <a:off x="7461504" y="1508760"/>
            <a:ext cx="2880360" cy="452628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461504" y="1508760"/>
            <a:ext cx="2880360" cy="640080"/>
          </a:xfrm>
          <a:prstGeom prst="roundRect">
            <a:avLst>
              <a:gd name="adj" fmla="val 11429"/>
            </a:avLst>
          </a:prstGeom>
          <a:solidFill>
            <a:srgbClr val="D79B2B"/>
          </a:solidFill>
          <a:ln w="12700">
            <a:solidFill>
              <a:srgbClr val="D79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534656" y="1709928"/>
            <a:ext cx="2734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Budget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26096" y="2331720"/>
            <a:ext cx="2551176" cy="3383280"/>
          </a:xfrm>
          <a:prstGeom prst="roundRect">
            <a:avLst>
              <a:gd name="adj" fmla="val 2867"/>
            </a:avLst>
          </a:prstGeom>
          <a:solidFill>
            <a:srgbClr val="FCF4E6"/>
          </a:solidFill>
          <a:ln w="12700">
            <a:solidFill>
              <a:srgbClr val="D79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781544" y="2679192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909560" y="2596896"/>
            <a:ext cx="2112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33245"/>
                </a:solidFill>
              </a:rPr>
              <a:t>$85,000 per month total platform budget.</a:t>
            </a:r>
            <a:endParaRPr lang="en-US" sz="1010" dirty="0"/>
          </a:p>
        </p:txBody>
      </p:sp>
      <p:sp>
        <p:nvSpPr>
          <p:cNvPr id="32" name="Shape 30"/>
          <p:cNvSpPr/>
          <p:nvPr/>
        </p:nvSpPr>
        <p:spPr>
          <a:xfrm>
            <a:off x="7781544" y="2962656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909560" y="2880360"/>
            <a:ext cx="2112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33245"/>
                </a:solidFill>
              </a:rPr>
              <a:t>Keep the system lean enough for a lab-scale implementation.</a:t>
            </a:r>
            <a:endParaRPr lang="en-US" sz="1010" dirty="0"/>
          </a:p>
        </p:txBody>
      </p:sp>
      <p:sp>
        <p:nvSpPr>
          <p:cNvPr id="34" name="Text 32"/>
          <p:cNvSpPr/>
          <p:nvPr/>
        </p:nvSpPr>
        <p:spPr>
          <a:xfrm>
            <a:off x="365760" y="66385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B7A"/>
                </a:solidFill>
              </a:rPr>
              <a:t>NorthStar Retail AI Platform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521440" y="662025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B7A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54864"/>
          </a:xfrm>
          <a:prstGeom prst="rect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Organizational Context &amp; Stakeholders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B7A"/>
                </a:solidFill>
              </a:rPr>
              <a:t>AI team reporting line and the functions that will judge success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60704"/>
            <a:ext cx="1106424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1664208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1832" y="1728216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Reporting Structure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88720" y="2240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6F7A"/>
                </a:solidFill>
              </a:rPr>
              <a:t>AI Team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8680" y="2670048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E7F5F3"/>
          </a:solidFill>
          <a:ln w="12700">
            <a:solidFill>
              <a:srgbClr val="1E6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7552" y="2907792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233245"/>
                </a:solidFill>
              </a:rPr>
              <a:t>Reports to Maya Chen, Chief Data Officer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1874520" y="3383280"/>
            <a:ext cx="0" cy="457200"/>
          </a:xfrm>
          <a:prstGeom prst="line">
            <a:avLst/>
          </a:prstGeom>
          <a:noFill/>
          <a:ln w="12700">
            <a:solidFill>
              <a:srgbClr val="5D6B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3913632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4F7FA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87552" y="4233672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15568" y="4151376"/>
            <a:ext cx="2660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33245"/>
                </a:solidFill>
              </a:rPr>
              <a:t>Marketing (David Park): churn reduction and offer redemption.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87552" y="4517136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15568" y="4434840"/>
            <a:ext cx="2660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33245"/>
                </a:solidFill>
              </a:rPr>
              <a:t>Customer Experience (Priya Nair): CSAT and automation.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87552" y="4800600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15568" y="4718304"/>
            <a:ext cx="2660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33245"/>
                </a:solidFill>
              </a:rPr>
              <a:t>CFO (Robert Hess): cost per interaction and ROI.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87552" y="5084064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15568" y="5001768"/>
            <a:ext cx="2660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33245"/>
                </a:solidFill>
              </a:rPr>
              <a:t>Privacy (Sarah Okafor): governance and compliance.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87552" y="5367528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15568" y="5285232"/>
            <a:ext cx="2660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33245"/>
                </a:solidFill>
              </a:rPr>
              <a:t>Technology (James Wu): reliability and integration.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146304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00600" y="166420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73752" y="1728216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747"/>
                </a:solidFill>
              </a:rPr>
              <a:t>Stakeholder Lens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2240280"/>
            <a:ext cx="6080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00600" y="2240280"/>
            <a:ext cx="109728" cy="621792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001768" y="2386584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FC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74920" y="2432304"/>
            <a:ext cx="1536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233245"/>
                </a:solidFill>
              </a:rPr>
              <a:t>Marketing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6812280" y="2441448"/>
            <a:ext cx="3794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33245"/>
                </a:solidFill>
              </a:rPr>
              <a:t>Churn reduction, redemption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4800600" y="2990088"/>
            <a:ext cx="6080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00600" y="2990088"/>
            <a:ext cx="109728" cy="621792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001768" y="313639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E7F5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74920" y="3182112"/>
            <a:ext cx="1536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233245"/>
                </a:solidFill>
              </a:rPr>
              <a:t>Customer Experience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6812280" y="3191256"/>
            <a:ext cx="3794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33245"/>
                </a:solidFill>
              </a:rPr>
              <a:t>CSAT, automation rate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4800600" y="3739896"/>
            <a:ext cx="6080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00600" y="3739896"/>
            <a:ext cx="109728" cy="621792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001768" y="3886200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EAF4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74920" y="3931920"/>
            <a:ext cx="1536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233245"/>
                </a:solidFill>
              </a:rPr>
              <a:t>Finance</a:t>
            </a:r>
            <a:endParaRPr lang="en-US" sz="930" dirty="0"/>
          </a:p>
        </p:txBody>
      </p:sp>
      <p:sp>
        <p:nvSpPr>
          <p:cNvPr id="43" name="Text 41"/>
          <p:cNvSpPr/>
          <p:nvPr/>
        </p:nvSpPr>
        <p:spPr>
          <a:xfrm>
            <a:off x="6812280" y="3941064"/>
            <a:ext cx="3794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33245"/>
                </a:solidFill>
              </a:rPr>
              <a:t>Cost and ROI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4800600" y="4489704"/>
            <a:ext cx="6080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00600" y="4489704"/>
            <a:ext cx="109728" cy="621792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001768" y="4636008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FCEC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74920" y="4681728"/>
            <a:ext cx="1536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233245"/>
                </a:solidFill>
              </a:rPr>
              <a:t>Privacy</a:t>
            </a:r>
            <a:endParaRPr lang="en-US" sz="930" dirty="0"/>
          </a:p>
        </p:txBody>
      </p:sp>
      <p:sp>
        <p:nvSpPr>
          <p:cNvPr id="48" name="Text 46"/>
          <p:cNvSpPr/>
          <p:nvPr/>
        </p:nvSpPr>
        <p:spPr>
          <a:xfrm>
            <a:off x="6812280" y="4690872"/>
            <a:ext cx="3794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33245"/>
                </a:solidFill>
              </a:rPr>
              <a:t>Data governance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4800600" y="5239512"/>
            <a:ext cx="6080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800600" y="5239512"/>
            <a:ext cx="109728" cy="621792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001768" y="5385816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EDF5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074920" y="5431536"/>
            <a:ext cx="1536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233245"/>
                </a:solidFill>
              </a:rPr>
              <a:t>Technology</a:t>
            </a:r>
            <a:endParaRPr lang="en-US" sz="930" dirty="0"/>
          </a:p>
        </p:txBody>
      </p:sp>
      <p:sp>
        <p:nvSpPr>
          <p:cNvPr id="53" name="Text 51"/>
          <p:cNvSpPr/>
          <p:nvPr/>
        </p:nvSpPr>
        <p:spPr>
          <a:xfrm>
            <a:off x="6812280" y="5440680"/>
            <a:ext cx="3794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233245"/>
                </a:solidFill>
              </a:rPr>
              <a:t>Reliability and integration</a:t>
            </a:r>
            <a:endParaRPr lang="en-US" sz="1020" dirty="0"/>
          </a:p>
        </p:txBody>
      </p:sp>
      <p:sp>
        <p:nvSpPr>
          <p:cNvPr id="54" name="Text 52"/>
          <p:cNvSpPr/>
          <p:nvPr/>
        </p:nvSpPr>
        <p:spPr>
          <a:xfrm>
            <a:off x="365760" y="66385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B7A"/>
                </a:solidFill>
              </a:rPr>
              <a:t>NorthStar Retail AI Platform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1521440" y="662025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B7A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54864"/>
          </a:xfrm>
          <a:prstGeom prst="rect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 Management (Out of Scope)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80467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B7A"/>
                </a:solidFill>
              </a:rPr>
              <a:t>Clear boundaries to keep the project practical and aligned to the lab setting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60704"/>
            <a:ext cx="1106424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172200" y="150876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1719072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4C8B3B"/>
          </a:solidFill>
          <a:ln w="12700">
            <a:solidFill>
              <a:srgbClr val="4C8B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7552" y="1783080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 Scope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96112" y="2231136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4128" y="2148840"/>
            <a:ext cx="4443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233245"/>
                </a:solidFill>
              </a:rPr>
              <a:t>Build the AI platform and required supporting infrastructure.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896112" y="2514600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24128" y="2432304"/>
            <a:ext cx="4443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233245"/>
                </a:solidFill>
              </a:rPr>
              <a:t>Ingest data at batch, streaming, and event-driven cadences.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896112" y="2798064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24128" y="2715768"/>
            <a:ext cx="4443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233245"/>
                </a:solidFill>
              </a:rPr>
              <a:t>Train and evaluate traditional ML, LLM / RAG, and agentic systems.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896112" y="3081528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24128" y="2999232"/>
            <a:ext cx="4443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233245"/>
                </a:solidFill>
              </a:rPr>
              <a:t>Automate the path from code commit to production.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896112" y="3364992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24128" y="3282696"/>
            <a:ext cx="4443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233245"/>
                </a:solidFill>
              </a:rPr>
              <a:t>Monitor drift, degradation, and business impact.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6400800" y="1719072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A4473C"/>
          </a:solidFill>
          <a:ln w="12700">
            <a:solidFill>
              <a:srgbClr val="A4473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73952" y="178308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Out of Scope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82512" y="2231136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10528" y="2148840"/>
            <a:ext cx="4398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233245"/>
                </a:solidFill>
              </a:rPr>
              <a:t>Real-time browsing personalization under 50 ms latency.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6382512" y="2514600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10528" y="2432304"/>
            <a:ext cx="4398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233245"/>
                </a:solidFill>
              </a:rPr>
              <a:t>Direct production integration with Snowflake, Salesforce, or CRM systems.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6382512" y="2798064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10528" y="2715768"/>
            <a:ext cx="4398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233245"/>
                </a:solidFill>
              </a:rPr>
              <a:t>Production-scale traffic; keep workloads small to manage lab credits.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6382512" y="3081528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10528" y="2999232"/>
            <a:ext cx="4398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233245"/>
                </a:solidFill>
              </a:rPr>
              <a:t>CLV model implementation.</a:t>
            </a:r>
            <a:endParaRPr lang="en-US" sz="1060" dirty="0"/>
          </a:p>
        </p:txBody>
      </p:sp>
      <p:sp>
        <p:nvSpPr>
          <p:cNvPr id="32" name="Shape 30"/>
          <p:cNvSpPr/>
          <p:nvPr/>
        </p:nvSpPr>
        <p:spPr>
          <a:xfrm>
            <a:off x="6382512" y="3364992"/>
            <a:ext cx="73152" cy="73152"/>
          </a:xfrm>
          <a:prstGeom prst="ellipse">
            <a:avLst/>
          </a:prstGeom>
          <a:solidFill>
            <a:srgbClr val="D79B2B"/>
          </a:solidFill>
          <a:ln w="12700">
            <a:solidFill>
              <a:srgbClr val="D79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10528" y="3282696"/>
            <a:ext cx="4398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233245"/>
                </a:solidFill>
              </a:rPr>
              <a:t>Credit-offer model implementation.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868680" y="489204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FCF4E6"/>
          </a:solidFill>
          <a:ln w="12700">
            <a:solidFill>
              <a:srgbClr val="D79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97280" y="5157216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F2747"/>
                </a:solidFill>
              </a:rPr>
              <a:t>The scope intentionally focuses the project on the platform and the three core use cases, while leaving more advanced production integrations and higher-risk extensions for later phases.</a:t>
            </a:r>
            <a:endParaRPr lang="en-US" sz="1130" dirty="0"/>
          </a:p>
        </p:txBody>
      </p:sp>
      <p:sp>
        <p:nvSpPr>
          <p:cNvPr id="36" name="Text 34"/>
          <p:cNvSpPr/>
          <p:nvPr/>
        </p:nvSpPr>
        <p:spPr>
          <a:xfrm>
            <a:off x="365760" y="66385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B7A"/>
                </a:solidFill>
              </a:rPr>
              <a:t>NorthStar Retail AI Platform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521440" y="662025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B7A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1294</Words>
  <Application>Microsoft Macintosh PowerPoint</Application>
  <PresentationFormat>Widescreen</PresentationFormat>
  <Paragraphs>259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Retail: Building the AI Platform</dc:title>
  <dc:subject>NorthStar Retail AI Platform</dc:subject>
  <dc:creator>OpenAI</dc:creator>
  <cp:lastModifiedBy>Scott Toborg</cp:lastModifiedBy>
  <cp:revision>2</cp:revision>
  <dcterms:created xsi:type="dcterms:W3CDTF">2026-07-28T21:00:51Z</dcterms:created>
  <dcterms:modified xsi:type="dcterms:W3CDTF">2026-07-28T21:06:13Z</dcterms:modified>
</cp:coreProperties>
</file>